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22415" y="-2103120"/>
            <a:ext cx="5852160" cy="5852160"/>
          </a:xfrm>
          <a:prstGeom prst="ellipse">
            <a:avLst/>
          </a:prstGeom>
          <a:noFill/>
          <a:ln w="13970">
            <a:solidFill>
              <a:srgbClr val="2DD4B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62495" y="-1463040"/>
            <a:ext cx="4572000" cy="4572000"/>
          </a:xfrm>
          <a:prstGeom prst="ellipse">
            <a:avLst/>
          </a:prstGeom>
          <a:noFill/>
          <a:ln w="13970">
            <a:solidFill>
              <a:srgbClr val="2DD4B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02575" y="-822960"/>
            <a:ext cx="3291840" cy="3291840"/>
          </a:xfrm>
          <a:prstGeom prst="ellipse">
            <a:avLst/>
          </a:prstGeom>
          <a:noFill/>
          <a:ln w="13970">
            <a:solidFill>
              <a:srgbClr val="2DD4B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42655" y="-182880"/>
            <a:ext cx="2011680" cy="2011680"/>
          </a:xfrm>
          <a:prstGeom prst="ellipse">
            <a:avLst/>
          </a:prstGeom>
          <a:noFill/>
          <a:ln w="13970">
            <a:solidFill>
              <a:srgbClr val="2DD4BF">
                <a:alpha val="4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47911" y="172821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43560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3350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2DD4BF"/>
                </a:solidFill>
                <a:latin typeface="Calibri"/>
              </a:rPr>
              <a:t>PROJECT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EAF0FA"/>
                </a:solidFill>
                <a:latin typeface="Cambria"/>
              </a:rPr>
              <a:t>Hierarchical Latent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2DD4BF"/>
                </a:solidFill>
                <a:latin typeface="Cambria"/>
              </a:rPr>
              <a:t>Reasoning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i="0">
                <a:solidFill>
                  <a:srgbClr val="93A7C6"/>
                </a:solidFill>
                <a:latin typeface="Calibri"/>
              </a:rPr>
              <a:t>A model that </a:t>
            </a:r>
            <a:r>
              <a:rPr sz="1800" b="1" i="0">
                <a:solidFill>
                  <a:srgbClr val="EAF0FA"/>
                </a:solidFill>
                <a:latin typeface="Calibri"/>
              </a:rPr>
              <a:t>thinks in latent thoughts</a:t>
            </a:r>
            <a:r>
              <a:rPr sz="1800" b="0" i="0">
                <a:solidFill>
                  <a:srgbClr val="93A7C6"/>
                </a:solidFill>
                <a:latin typeface="Calibri"/>
              </a:rPr>
              <a:t> — chunk-level vectors deliberated by a</a:t>
            </a:r>
          </a:p>
          <a:p>
            <a:pPr algn="l">
              <a:lnSpc>
                <a:spcPct val="128000"/>
              </a:lnSpc>
            </a:pPr>
            <a:r>
              <a:rPr sz="1800" b="0" i="0">
                <a:solidFill>
                  <a:srgbClr val="93A7C6"/>
                </a:solidFill>
                <a:latin typeface="Calibri"/>
              </a:rPr>
              <a:t>recurrent loop, then decoded to language by a separate module.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1559052" cy="402336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5590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EAF0FA"/>
                </a:solidFill>
                <a:latin typeface="Calibri"/>
              </a:rPr>
              <a:t>JEPA-Reasoner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3180" y="5074920"/>
            <a:ext cx="1078992" cy="402336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3180" y="5074920"/>
            <a:ext cx="10789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EAF0FA"/>
                </a:solidFill>
                <a:latin typeface="Calibri"/>
              </a:rPr>
              <a:t>HRM-Text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3339" y="5074920"/>
            <a:ext cx="1751076" cy="402336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3339" y="5074920"/>
            <a:ext cx="17510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EAF0FA"/>
                </a:solidFill>
                <a:latin typeface="Calibri"/>
              </a:rPr>
              <a:t>Thought Gestalt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5583" y="5074920"/>
            <a:ext cx="886968" cy="402336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3" y="5074920"/>
            <a:ext cx="8869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EAF0FA"/>
                </a:solidFill>
                <a:latin typeface="Calibri"/>
              </a:rPr>
              <a:t>Parcae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5989320"/>
            <a:ext cx="10543032" cy="0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61447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3769A"/>
                </a:solidFill>
                <a:latin typeface="Calibri"/>
              </a:rPr>
              <a:t>Composing four architectures whose problems compose — into one that thinks before it speaks.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F26D6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Today's LLMs reason in the same tokens they speak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93A7C6"/>
                </a:solidFill>
                <a:latin typeface="Calibri"/>
              </a:rPr>
              <a:t>One representation is forced to do two incompatible jobs — and the coupling has three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29584" cy="3063240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" y="26151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19050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761488"/>
            <a:ext cx="164592" cy="164592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255264"/>
            <a:ext cx="2907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AF0FA"/>
                </a:solidFill>
                <a:latin typeface="Cambria"/>
              </a:rPr>
              <a:t>Compounding fragility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069080"/>
            <a:ext cx="290779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 i="0">
                <a:solidFill>
                  <a:srgbClr val="93A7C6"/>
                </a:solidFill>
                <a:latin typeface="Calibri"/>
              </a:rPr>
              <a:t>Autoregression conditions on its own sampled output. One wrong token pollutes the context and corrupts every step of reasoning that follows.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2286000"/>
            <a:ext cx="3529584" cy="3063240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26151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6904" y="2761488"/>
            <a:ext cx="164592" cy="164592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255264"/>
            <a:ext cx="2907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AF0FA"/>
                </a:solidFill>
                <a:latin typeface="Cambria"/>
              </a:rPr>
              <a:t>Reasoning tangled with expression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069080"/>
            <a:ext cx="290779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 i="0">
                <a:solidFill>
                  <a:srgbClr val="93A7C6"/>
                </a:solidFill>
                <a:latin typeface="Calibri"/>
              </a:rPr>
              <a:t>The act of thinking and the act of wording it share the same weights and states — the model cannot deliberate without committing to surface tokens.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2286000"/>
            <a:ext cx="3529584" cy="3063240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50224" y="26151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1905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96528" y="2761488"/>
            <a:ext cx="164592" cy="164592"/>
          </a:xfrm>
          <a:prstGeom prst="ellips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3255264"/>
            <a:ext cx="2907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AF0FA"/>
                </a:solidFill>
                <a:latin typeface="Cambria"/>
              </a:rPr>
              <a:t>No self / input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4069080"/>
            <a:ext cx="290779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 i="0">
                <a:solidFill>
                  <a:srgbClr val="93A7C6"/>
                </a:solidFill>
                <a:latin typeface="Calibri"/>
              </a:rPr>
              <a:t>Nothing structurally separates “the user asserted X” from “I concluded X.” They collapse into one latent — the exact substrate sycophancy exploits.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EAF0FA"/>
                </a:solidFill>
                <a:latin typeface="Calibri"/>
              </a:rPr>
              <a:t>The goal: </a:t>
            </a:r>
            <a:r>
              <a:rPr sz="1450" b="0" i="0">
                <a:solidFill>
                  <a:srgbClr val="93A7C6"/>
                </a:solidFill>
                <a:latin typeface="Calibri"/>
              </a:rPr>
              <a:t>decouple reasoning from expression, make deliberation a real compute dial, and give the model a place to hold a belief that isn't just the user's.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The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5B9DF9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Four papers, four different fixes — none combines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58384" cy="1700784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65376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1828800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DD4BF"/>
                </a:solidFill>
                <a:latin typeface="Cambria"/>
              </a:rPr>
              <a:t>JEPA-Reasoner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2231136"/>
            <a:ext cx="4535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AF0FA"/>
                </a:solidFill>
                <a:latin typeface="Calibri"/>
              </a:rPr>
              <a:t>Reasons in latent space; a separate Talker head reads latents out to tokens.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871215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DD4BF"/>
                </a:solidFill>
                <a:latin typeface="Calibri"/>
              </a:rPr>
              <a:t>→  </a:t>
            </a:r>
            <a:r>
              <a:rPr sz="1150" b="0" i="1">
                <a:solidFill>
                  <a:srgbClr val="93A7C6"/>
                </a:solidFill>
                <a:latin typeface="Calibri"/>
              </a:rPr>
              <a:t>Ablation: the Talker is a pure readout — useless without good latents.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4" y="1572768"/>
            <a:ext cx="5358384" cy="1700784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92824" y="1865376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1828800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5B9DF9"/>
                </a:solidFill>
                <a:latin typeface="Cambria"/>
              </a:rPr>
              <a:t>HRM-Text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2231136"/>
            <a:ext cx="4535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AF0FA"/>
                </a:solidFill>
                <a:latin typeface="Calibri"/>
              </a:rPr>
              <a:t>Dual-timescale recurrence: a fast L-module refines locally, a slow H-module holds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2871215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5B9DF9"/>
                </a:solidFill>
                <a:latin typeface="Calibri"/>
              </a:rPr>
              <a:t>→  </a:t>
            </a:r>
            <a:r>
              <a:rPr sz="1150" b="0" i="1">
                <a:solidFill>
                  <a:srgbClr val="93A7C6"/>
                </a:solidFill>
                <a:latin typeface="Calibri"/>
              </a:rPr>
              <a:t>Looping beats width, FLOP-for-FLOP — depth as a compute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9584"/>
            <a:ext cx="5358384" cy="1700784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2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7" y="3785616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mbria"/>
              </a:rPr>
              <a:t>Thought Gestalt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4187952"/>
            <a:ext cx="4535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AF0FA"/>
                </a:solidFill>
                <a:latin typeface="Calibri"/>
              </a:rPr>
              <a:t>Generates one sentence at a time, cross-attending to a memory of prior sentence vectors.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828032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34D399"/>
                </a:solidFill>
                <a:latin typeface="Calibri"/>
              </a:rPr>
              <a:t>→  </a:t>
            </a:r>
            <a:r>
              <a:rPr sz="1150" b="0" i="1">
                <a:solidFill>
                  <a:srgbClr val="93A7C6"/>
                </a:solidFill>
                <a:latin typeface="Calibri"/>
              </a:rPr>
              <a:t>Gradient flows back through memory — fixes reversal-curse gaps.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3529584"/>
            <a:ext cx="5358384" cy="1700784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92824" y="3822192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3785616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524"/>
                </a:solidFill>
                <a:latin typeface="Cambria"/>
              </a:rPr>
              <a:t>Parcae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4187952"/>
            <a:ext cx="4535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AF0FA"/>
                </a:solidFill>
                <a:latin typeface="Calibri"/>
              </a:rPr>
              <a:t>Stabilizes looped transformers by constraining the spectral norm of the loop's injection.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4828032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5A524"/>
                </a:solidFill>
                <a:latin typeface="Calibri"/>
              </a:rPr>
              <a:t>→  </a:t>
            </a:r>
            <a:r>
              <a:rPr sz="1150" b="0" i="1">
                <a:solidFill>
                  <a:srgbClr val="93A7C6"/>
                </a:solidFill>
                <a:latin typeface="Calibri"/>
              </a:rPr>
              <a:t>Test-time looping scales as a predictable, saturating exponential.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76672"/>
            <a:ext cx="11045952" cy="932688"/>
          </a:xfrm>
          <a:prstGeom prst="roundRect">
            <a:avLst>
              <a:gd name="adj" fmla="val 6000"/>
            </a:avLst>
          </a:prstGeom>
          <a:solidFill>
            <a:srgbClr val="1B2C4A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779008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5522976"/>
            <a:ext cx="10149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2DD4BF"/>
                </a:solidFill>
                <a:latin typeface="Calibri"/>
              </a:rPr>
              <a:t>The gap.  </a:t>
            </a:r>
            <a:r>
              <a:rPr sz="1350" b="0" i="0">
                <a:solidFill>
                  <a:srgbClr val="EAF0FA"/>
                </a:solidFill>
                <a:latin typeface="Calibri"/>
              </a:rPr>
              <a:t>Each paper fixes one failure in isolation. No prior work composes them — and naively combining latent SSL, un-detached memory, and a looped recurrence creates </a:t>
            </a:r>
            <a:r>
              <a:rPr sz="1350" b="1" i="0">
                <a:solidFill>
                  <a:srgbClr val="EAF0FA"/>
                </a:solidFill>
                <a:latin typeface="Calibri"/>
              </a:rPr>
              <a:t>new interaction failures</a:t>
            </a:r>
            <a:r>
              <a:rPr sz="1350" b="0" i="0">
                <a:solidFill>
                  <a:srgbClr val="EAF0FA"/>
                </a:solidFill>
                <a:latin typeface="Calibri"/>
              </a:rPr>
              <a:t> that none of the source papers ever had to face.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Literature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2DD4BF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The full pipeline: two lanes, one thought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3A7C6"/>
                </a:solidFill>
                <a:latin typeface="Calibri"/>
              </a:rPr>
              <a:t>Input enters </a:t>
            </a:r>
            <a:r>
              <a:rPr sz="1350" b="1" i="0">
                <a:solidFill>
                  <a:srgbClr val="5B9DF9"/>
                </a:solidFill>
                <a:latin typeface="Calibri"/>
              </a:rPr>
              <a:t>read-only</a:t>
            </a:r>
            <a:r>
              <a:rPr sz="1350" b="0" i="0">
                <a:solidFill>
                  <a:srgbClr val="93A7C6"/>
                </a:solidFill>
                <a:latin typeface="Calibri"/>
              </a:rPr>
              <a:t> — only the thought loop writes self-state. Each finished thought is remembered, then spoken.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38528"/>
            <a:ext cx="2788920" cy="3877056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 w="16510">
            <a:solidFill>
              <a:srgbClr val="5B9DF9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5B9DF9"/>
                </a:solidFill>
                <a:latin typeface="Calibri"/>
              </a:rPr>
              <a:t>INPUT 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3A7C6"/>
                </a:solidFill>
                <a:latin typeface="Calibri"/>
              </a:rPr>
              <a:t>read-only · two-tier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88336"/>
            <a:ext cx="2331720" cy="512064"/>
          </a:xfrm>
          <a:prstGeom prst="roundRect">
            <a:avLst>
              <a:gd name="adj" fmla="val 12000"/>
            </a:avLst>
          </a:prstGeom>
          <a:solidFill>
            <a:srgbClr val="0A101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761488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F0FA"/>
                </a:solidFill>
                <a:latin typeface="Calibri"/>
              </a:rPr>
              <a:t>Raw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71800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3A7C6"/>
                </a:solidFill>
                <a:latin typeface="Calibri"/>
              </a:rPr>
              <a:t>current turn · full fidelity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34539" y="3218688"/>
            <a:ext cx="0" cy="164592"/>
          </a:xfrm>
          <a:prstGeom prst="bentConnector3">
            <a:avLst/>
          </a:prstGeom>
          <a:ln w="16510">
            <a:solidFill>
              <a:srgbClr val="5B9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1965959" y="3314700"/>
            <a:ext cx="137160" cy="137160"/>
          </a:xfrm>
          <a:prstGeom prst="triangl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419856"/>
            <a:ext cx="2331720" cy="493776"/>
          </a:xfrm>
          <a:prstGeom prst="roundRect">
            <a:avLst>
              <a:gd name="adj" fmla="val 12000"/>
            </a:avLst>
          </a:prstGeom>
          <a:solidFill>
            <a:srgbClr val="1B2C4A"/>
          </a:solidFill>
          <a:ln w="1524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8386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9DF9"/>
                </a:solidFill>
                <a:latin typeface="Calibri"/>
              </a:rPr>
              <a:t>Input-lane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2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3A7C6"/>
                </a:solidFill>
                <a:latin typeface="Calibri"/>
              </a:rPr>
              <a:t>bidirectional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078224"/>
            <a:ext cx="2331720" cy="0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4206240"/>
            <a:ext cx="2331720" cy="512064"/>
          </a:xfrm>
          <a:prstGeom prst="roundRect">
            <a:avLst>
              <a:gd name="adj" fmla="val 12000"/>
            </a:avLst>
          </a:prstGeom>
          <a:solidFill>
            <a:srgbClr val="0A101D"/>
          </a:solidFill>
          <a:ln w="1270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3" y="4279392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F0FA"/>
                </a:solidFill>
                <a:latin typeface="Calibri"/>
              </a:rPr>
              <a:t>Aged gestalts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489704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3A7C6"/>
                </a:solidFill>
                <a:latin typeface="Calibri"/>
              </a:rPr>
              <a:t>prior turns · compressed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914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1">
                <a:solidFill>
                  <a:srgbClr val="63769A"/>
                </a:solidFill>
                <a:latin typeface="Calibri"/>
              </a:rPr>
              <a:t>The same gestalt memory's USER/SYSTEM slots, recalled — not a second store.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5838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3A7C6"/>
                </a:solidFill>
                <a:latin typeface="Calibri"/>
              </a:rPr>
              <a:t>Role tags </a:t>
            </a:r>
            <a:r>
              <a:rPr sz="900" b="1" i="0">
                <a:solidFill>
                  <a:srgbClr val="EAF0FA"/>
                </a:solidFill>
                <a:latin typeface="Calibri"/>
              </a:rPr>
              <a:t>USER·SELF·SYSTEM</a:t>
            </a:r>
            <a:r>
              <a:rPr sz="900" b="0" i="0">
                <a:solidFill>
                  <a:srgbClr val="93A7C6"/>
                </a:solidFill>
                <a:latin typeface="Calibri"/>
              </a:rPr>
              <a:t> · never writes self-state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1938528"/>
            <a:ext cx="6355080" cy="548640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16510">
            <a:solidFill>
              <a:srgbClr val="2DD4B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020824"/>
            <a:ext cx="6355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40">
                <a:solidFill>
                  <a:srgbClr val="2DD4BF"/>
                </a:solidFill>
                <a:latin typeface="Calibri"/>
              </a:rPr>
              <a:t>CHUNK ENCODER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249424"/>
            <a:ext cx="6355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3A7C6"/>
                </a:solidFill>
                <a:latin typeface="Calibri"/>
              </a:rPr>
              <a:t>SaT-Capped chunker  →  chunk cₜ  →  192-d thought latent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52460" y="2487168"/>
            <a:ext cx="0" cy="237744"/>
          </a:xfrm>
          <a:prstGeom prst="bentConnector3">
            <a:avLst/>
          </a:prstGeom>
          <a:ln w="20320">
            <a:solidFill>
              <a:srgbClr val="2DD4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8183880" y="2656332"/>
            <a:ext cx="137160" cy="137160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74920" y="2743200"/>
            <a:ext cx="6355080" cy="1097280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21590">
            <a:solidFill>
              <a:srgbClr val="2DD4B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2862072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20">
                <a:solidFill>
                  <a:srgbClr val="2DD4BF"/>
                </a:solidFill>
                <a:latin typeface="Calibri"/>
              </a:rPr>
              <a:t>INNER HRM LOOP  ·  SELF LANE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3196" y="3200400"/>
            <a:ext cx="384048" cy="347472"/>
          </a:xfrm>
          <a:prstGeom prst="roundRect">
            <a:avLst>
              <a:gd name="adj" fmla="val 16000"/>
            </a:avLst>
          </a:prstGeom>
          <a:solidFill>
            <a:srgbClr val="0A101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3196" y="3200400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9DF9"/>
                </a:solidFill>
                <a:latin typeface="Calibri"/>
              </a:rPr>
              <a:t>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40396" y="3200400"/>
            <a:ext cx="384048" cy="347472"/>
          </a:xfrm>
          <a:prstGeom prst="roundRect">
            <a:avLst>
              <a:gd name="adj" fmla="val 16000"/>
            </a:avLst>
          </a:prstGeom>
          <a:solidFill>
            <a:srgbClr val="0A101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0396" y="3200400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9DF9"/>
                </a:solidFill>
                <a:latin typeface="Calibri"/>
              </a:rPr>
              <a:t>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7596" y="3200400"/>
            <a:ext cx="384048" cy="347472"/>
          </a:xfrm>
          <a:prstGeom prst="roundRect">
            <a:avLst>
              <a:gd name="adj" fmla="val 16000"/>
            </a:avLst>
          </a:prstGeom>
          <a:solidFill>
            <a:srgbClr val="0A101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7596" y="3200400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9DF9"/>
                </a:solidFill>
                <a:latin typeface="Calibri"/>
              </a:rPr>
              <a:t>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64524" y="3200400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64524" y="3200400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AF0FA"/>
                </a:solidFill>
                <a:latin typeface="Calibri"/>
              </a:rP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611880"/>
            <a:ext cx="6355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3A7C6"/>
                </a:solidFill>
                <a:latin typeface="Calibri"/>
              </a:rPr>
              <a:t>fast L ×3  →  slow H ×1   ·   Parcae-stable · adaptive depth · writes self-state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52460" y="3840480"/>
            <a:ext cx="0" cy="237744"/>
          </a:xfrm>
          <a:prstGeom prst="bentConnector3">
            <a:avLst/>
          </a:prstGeom>
          <a:ln w="20320">
            <a:solidFill>
              <a:srgbClr val="2DD4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10800000">
            <a:off x="8183880" y="4009644"/>
            <a:ext cx="137160" cy="137160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9620" y="3822192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2DD4BF"/>
                </a:solidFill>
                <a:latin typeface="Calibri"/>
              </a:rPr>
              <a:t>write thought zₜ (SELF)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74920" y="4078224"/>
            <a:ext cx="6355080" cy="841248"/>
          </a:xfrm>
          <a:prstGeom prst="roundRect">
            <a:avLst>
              <a:gd name="adj" fmla="val 8000"/>
            </a:avLst>
          </a:prstGeom>
          <a:solidFill>
            <a:srgbClr val="1B2C4A"/>
          </a:solidFill>
          <a:ln w="17780">
            <a:solidFill>
              <a:srgbClr val="5B9DF9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4169663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5B9DF9"/>
                </a:solidFill>
                <a:latin typeface="Calibri"/>
              </a:rPr>
              <a:t>GESTALT MEMORY</a:t>
            </a:r>
            <a:r>
              <a:rPr sz="1000" b="0" i="1">
                <a:solidFill>
                  <a:srgbClr val="93A7C6"/>
                </a:solidFill>
                <a:latin typeface="Calibri"/>
              </a:rPr>
              <a:t>   — one 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441655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3A7C6"/>
                </a:solidFill>
                <a:latin typeface="Calibri"/>
              </a:rPr>
              <a:t>FIFO · role-tagged · ungated gradient · O(1) recall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64515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  <a:latin typeface="Calibri"/>
              </a:rPr>
              <a:t>SELF</a:t>
            </a:r>
            <a:r>
              <a:rPr sz="950" b="0" i="0">
                <a:solidFill>
                  <a:srgbClr val="93A7C6"/>
                </a:solidFill>
                <a:latin typeface="Calibri"/>
              </a:rPr>
              <a:t> = this loop's thoughts     </a:t>
            </a:r>
            <a:r>
              <a:rPr sz="950" b="1" i="0">
                <a:solidFill>
                  <a:srgbClr val="5B9DF9"/>
                </a:solidFill>
                <a:latin typeface="Calibri"/>
              </a:rPr>
              <a:t>USER/SYSTEM</a:t>
            </a:r>
            <a:r>
              <a:rPr sz="950" b="0" i="0">
                <a:solidFill>
                  <a:srgbClr val="93A7C6"/>
                </a:solidFill>
                <a:latin typeface="Calibri"/>
              </a:rPr>
              <a:t> = aged input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82912" y="4361688"/>
            <a:ext cx="438912" cy="292608"/>
          </a:xfrm>
          <a:prstGeom prst="roundRect">
            <a:avLst>
              <a:gd name="adj" fmla="val 16000"/>
            </a:avLst>
          </a:prstGeom>
          <a:solidFill>
            <a:srgbClr val="0A101D"/>
          </a:solidFill>
          <a:ln w="1270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82912" y="4361688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AF0FA"/>
                </a:solidFill>
                <a:latin typeface="Calibri"/>
              </a:rPr>
              <a:t>z1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76688" y="4361688"/>
            <a:ext cx="438912" cy="292608"/>
          </a:xfrm>
          <a:prstGeom prst="roundRect">
            <a:avLst>
              <a:gd name="adj" fmla="val 16000"/>
            </a:avLst>
          </a:prstGeom>
          <a:solidFill>
            <a:srgbClr val="0A101D"/>
          </a:solidFill>
          <a:ln w="1270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76688" y="4361688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AF0FA"/>
                </a:solidFill>
                <a:latin typeface="Calibri"/>
              </a:rPr>
              <a:t>z2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70463" y="4361688"/>
            <a:ext cx="438912" cy="292608"/>
          </a:xfrm>
          <a:prstGeom prst="roundRect">
            <a:avLst>
              <a:gd name="adj" fmla="val 16000"/>
            </a:avLst>
          </a:prstGeom>
          <a:solidFill>
            <a:srgbClr val="0A101D"/>
          </a:solidFill>
          <a:ln w="1270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70463" y="4361688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AF0FA"/>
                </a:solidFill>
                <a:latin typeface="Calibri"/>
              </a:rPr>
              <a:t>z3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5951" y="43891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3A7C6"/>
                </a:solidFill>
                <a:latin typeface="Calibri"/>
              </a:rPr>
              <a:t>…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52460" y="4919472"/>
            <a:ext cx="0" cy="182880"/>
          </a:xfrm>
          <a:prstGeom prst="bentConnector3">
            <a:avLst/>
          </a:prstGeom>
          <a:ln w="20320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 rot="10800000">
            <a:off x="8183880" y="5033772"/>
            <a:ext cx="137160" cy="137160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074920" y="5102352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16233D"/>
          </a:solidFill>
          <a:ln w="16510">
            <a:solidFill>
              <a:srgbClr val="34D399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74920" y="5221224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 spc="60">
                <a:solidFill>
                  <a:srgbClr val="34D399"/>
                </a:solidFill>
                <a:latin typeface="Calibri"/>
              </a:rPr>
              <a:t>TALKER  →  output tokens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5477256"/>
            <a:ext cx="6355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3A7C6"/>
                </a:solidFill>
                <a:latin typeface="Calibri"/>
              </a:rPr>
              <a:t>autoregressive · sampling noise can't leak back into reasoning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429000" y="3200400"/>
            <a:ext cx="1600200" cy="0"/>
          </a:xfrm>
          <a:prstGeom prst="bentConnector3">
            <a:avLst/>
          </a:prstGeom>
          <a:ln w="17780">
            <a:solidFill>
              <a:srgbClr val="5B9DF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4960620" y="3131820"/>
            <a:ext cx="137160" cy="137160"/>
          </a:xfrm>
          <a:prstGeom prst="triangl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0" y="2962656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B9DF9"/>
                </a:solidFill>
                <a:latin typeface="Calibri"/>
              </a:rPr>
              <a:t>cross-attend · read-only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3456432" y="4498848"/>
            <a:ext cx="1618488" cy="0"/>
          </a:xfrm>
          <a:prstGeom prst="bentConnector3">
            <a:avLst/>
          </a:prstGeom>
          <a:ln w="19050">
            <a:solidFill>
              <a:srgbClr val="5B9DF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16200000">
            <a:off x="3387851" y="4430268"/>
            <a:ext cx="137160" cy="137160"/>
          </a:xfrm>
          <a:prstGeom prst="triangl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0" y="4261104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B9DF9"/>
                </a:solidFill>
                <a:latin typeface="Calibri"/>
              </a:rPr>
              <a:t>recall · aged gestalts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429000" y="5431536"/>
            <a:ext cx="1600200" cy="0"/>
          </a:xfrm>
          <a:prstGeom prst="bentConnector3">
            <a:avLst/>
          </a:prstGeom>
          <a:ln w="17780">
            <a:solidFill>
              <a:srgbClr val="5B9DF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4960620" y="5362956"/>
            <a:ext cx="137160" cy="137160"/>
          </a:xfrm>
          <a:prstGeom prst="triangl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0" y="5193792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B9DF9"/>
                </a:solidFill>
                <a:latin typeface="Calibri"/>
              </a:rPr>
              <a:t>raw tokens · exact quotes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074920" y="6053328"/>
            <a:ext cx="365760" cy="0"/>
          </a:xfrm>
          <a:prstGeom prst="bentConnector3">
            <a:avLst/>
          </a:prstGeom>
          <a:ln w="25400">
            <a:solidFill>
              <a:srgbClr val="EAF0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532120" y="5943600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3A7C6"/>
                </a:solidFill>
                <a:latin typeface="Calibri"/>
              </a:rPr>
              <a:t>generation flow · writes self-state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503920" y="6053328"/>
            <a:ext cx="365760" cy="0"/>
          </a:xfrm>
          <a:prstGeom prst="bentConnector3">
            <a:avLst/>
          </a:prstGeom>
          <a:ln w="20320">
            <a:solidFill>
              <a:srgbClr val="5B9DF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961120" y="594360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3A7C6"/>
                </a:solidFill>
                <a:latin typeface="Calibri"/>
              </a:rPr>
              <a:t>read-only cross-attention / recall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Proposed Solution · Pipeline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F5A524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Two losses, staged so nothing collapses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3A7C6"/>
                </a:solidFill>
                <a:latin typeface="Calibri"/>
              </a:rPr>
              <a:t>No component can be trained from a random init — each mechanism needs the previous one stable, so training walks a curriculum.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57800" cy="388620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84831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30">
                <a:solidFill>
                  <a:srgbClr val="EAF0FA"/>
                </a:solidFill>
                <a:latin typeface="Calibri"/>
              </a:rPr>
              <a:t>ONE SHARED ENCODER, TWO LOSSES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487168"/>
            <a:ext cx="1828800" cy="420624"/>
          </a:xfrm>
          <a:prstGeom prst="roundRect">
            <a:avLst>
              <a:gd name="adj" fmla="val 14000"/>
            </a:avLst>
          </a:prstGeom>
          <a:solidFill>
            <a:srgbClr val="0A101D"/>
          </a:solidFill>
          <a:ln w="12700">
            <a:solidFill>
              <a:srgbClr val="2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39" y="2487168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AF0FA"/>
                </a:solidFill>
                <a:latin typeface="Calibri"/>
              </a:rPr>
              <a:t>chunk cₜ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39" y="2907792"/>
            <a:ext cx="0" cy="219456"/>
          </a:xfrm>
          <a:prstGeom prst="bentConnector3">
            <a:avLst/>
          </a:prstGeom>
          <a:ln w="16510">
            <a:solidFill>
              <a:srgbClr val="93A7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3223259" y="3058668"/>
            <a:ext cx="137160" cy="137160"/>
          </a:xfrm>
          <a:prstGeom prst="triangle">
            <a:avLst/>
          </a:prstGeom>
          <a:solidFill>
            <a:srgbClr val="93A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45920" y="316382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B2C4A"/>
          </a:solidFill>
          <a:ln w="1651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163824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80">
                <a:solidFill>
                  <a:srgbClr val="2DD4BF"/>
                </a:solidFill>
                <a:latin typeface="Calibri"/>
              </a:rPr>
              <a:t>SHARED CHUNK ENCODER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737360" y="3621024"/>
            <a:ext cx="502920" cy="292608"/>
          </a:xfrm>
          <a:prstGeom prst="bentConnector3">
            <a:avLst/>
          </a:prstGeom>
          <a:ln w="16510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6200000">
            <a:off x="1668780" y="3845052"/>
            <a:ext cx="137160" cy="137160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343400" y="3621024"/>
            <a:ext cx="502920" cy="292608"/>
          </a:xfrm>
          <a:prstGeom prst="bentConnector3">
            <a:avLst/>
          </a:prstGeom>
          <a:ln w="16510">
            <a:solidFill>
              <a:srgbClr val="5B9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777740" y="3845052"/>
            <a:ext cx="137160" cy="137160"/>
          </a:xfrm>
          <a:prstGeom prst="triangl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50208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0A101D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78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AF0FA"/>
                </a:solidFill>
                <a:latin typeface="Calibri"/>
              </a:rPr>
              <a:t>HRM loop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AF0FA"/>
                </a:solidFill>
                <a:latin typeface="Calibri"/>
              </a:rPr>
              <a:t>→ Talker → NLL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" y="468172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 spc="60">
                <a:solidFill>
                  <a:srgbClr val="34D399"/>
                </a:solidFill>
                <a:latin typeface="Calibri"/>
              </a:rPr>
              <a:t>RECONSTRUCTION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3A7C6"/>
                </a:solidFill>
                <a:latin typeface="Calibri"/>
              </a:rPr>
              <a:t>decode the same chunk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7" y="5175504"/>
            <a:ext cx="210312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7" y="5175504"/>
            <a:ext cx="2103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always-on anchor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950208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0A101D"/>
          </a:solidFill>
          <a:ln w="1651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078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AF0FA"/>
                </a:solidFill>
                <a:latin typeface="Calibri"/>
              </a:rPr>
              <a:t>SSL proj head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AF0FA"/>
                </a:solidFill>
                <a:latin typeface="Calibri"/>
              </a:rPr>
              <a:t>→ cos vs EMA(cₜ₊₁)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7" y="468172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 spc="60">
                <a:solidFill>
                  <a:srgbClr val="5B9DF9"/>
                </a:solidFill>
                <a:latin typeface="Calibri"/>
              </a:rPr>
              <a:t>SELF-SUPERVISED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3A7C6"/>
                </a:solidFill>
                <a:latin typeface="Calibri"/>
              </a:rPr>
              <a:t>predict the next chunk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7" y="5175504"/>
            <a:ext cx="210312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7" y="5175504"/>
            <a:ext cx="2103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5B9DF9"/>
                </a:solidFill>
                <a:latin typeface="Calibri"/>
              </a:rPr>
              <a:t>secondary · 0.1× · EMA 0.996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0702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AF0FA"/>
                </a:solidFill>
                <a:latin typeface="Calibri"/>
              </a:rPr>
              <a:t>Credit assignment: </a:t>
            </a:r>
            <a:r>
              <a:rPr sz="1050" b="0" i="0">
                <a:solidFill>
                  <a:srgbClr val="93A7C6"/>
                </a:solidFill>
                <a:latin typeface="Calibri"/>
              </a:rPr>
              <a:t>truncated BPTT warms up 2 → 5 steps (inner loop, then memory).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975104"/>
            <a:ext cx="5285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30">
                <a:solidFill>
                  <a:srgbClr val="F5A524"/>
                </a:solidFill>
                <a:latin typeface="Calibri"/>
              </a:rPr>
              <a:t>THE CURRICULUM — STAGES A → 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267712"/>
            <a:ext cx="5285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3A7C6"/>
                </a:solidFill>
                <a:latin typeface="Calibri"/>
              </a:rPr>
              <a:t>Nothing trains from a random init — each stage's stability unlocks the next.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615184"/>
            <a:ext cx="5285232" cy="498348"/>
          </a:xfrm>
          <a:prstGeom prst="roundRect">
            <a:avLst>
              <a:gd name="adj" fmla="val 9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2715768"/>
            <a:ext cx="292608" cy="292608"/>
          </a:xfrm>
          <a:prstGeom prst="ellipse">
            <a:avLst/>
          </a:prstGeom>
          <a:solidFill>
            <a:srgbClr val="0A101D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27157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Cambria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8855" y="2615184"/>
            <a:ext cx="2331720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F0FA"/>
                </a:solidFill>
                <a:latin typeface="Calibri"/>
              </a:rPr>
              <a:t>Ground the Talker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62872" y="2724912"/>
            <a:ext cx="0" cy="278891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09176" y="2615184"/>
            <a:ext cx="1993392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3A7C6"/>
                </a:solidFill>
                <a:latin typeface="Calibri"/>
              </a:rPr>
              <a:t>latent → decodable 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177539"/>
            <a:ext cx="5285232" cy="498348"/>
          </a:xfrm>
          <a:prstGeom prst="roundRect">
            <a:avLst>
              <a:gd name="adj" fmla="val 9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9944" y="3278123"/>
            <a:ext cx="292608" cy="292608"/>
          </a:xfrm>
          <a:prstGeom prst="ellipse">
            <a:avLst/>
          </a:prstGeom>
          <a:solidFill>
            <a:srgbClr val="0A101D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327812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Cambria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855" y="3177539"/>
            <a:ext cx="2331720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F0FA"/>
                </a:solidFill>
                <a:latin typeface="Calibri"/>
              </a:rPr>
              <a:t>Inner HRM loop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62872" y="3287268"/>
            <a:ext cx="0" cy="278891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409176" y="3177539"/>
            <a:ext cx="1993392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3A7C6"/>
                </a:solidFill>
                <a:latin typeface="Calibri"/>
              </a:rPr>
              <a:t>fixed depth · detached mem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739896"/>
            <a:ext cx="5285232" cy="498348"/>
          </a:xfrm>
          <a:prstGeom prst="roundRect">
            <a:avLst>
              <a:gd name="adj" fmla="val 9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9944" y="3840480"/>
            <a:ext cx="292608" cy="292608"/>
          </a:xfrm>
          <a:prstGeom prst="ellipse">
            <a:avLst/>
          </a:prstGeom>
          <a:solidFill>
            <a:srgbClr val="0A101D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384048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Cambria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48855" y="3739896"/>
            <a:ext cx="2331720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F0FA"/>
                </a:solidFill>
                <a:latin typeface="Calibri"/>
              </a:rPr>
              <a:t>Un-detach memory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62872" y="3849624"/>
            <a:ext cx="0" cy="278891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409176" y="3739896"/>
            <a:ext cx="1993392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3A7C6"/>
                </a:solidFill>
                <a:latin typeface="Calibri"/>
              </a:rPr>
              <a:t>grad reaches past thoughts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302252"/>
            <a:ext cx="5285232" cy="498348"/>
          </a:xfrm>
          <a:prstGeom prst="roundRect">
            <a:avLst>
              <a:gd name="adj" fmla="val 9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09944" y="4402836"/>
            <a:ext cx="292608" cy="292608"/>
          </a:xfrm>
          <a:prstGeom prst="ellipse">
            <a:avLst/>
          </a:prstGeom>
          <a:solidFill>
            <a:srgbClr val="0A101D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40283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DD4BF"/>
                </a:solidFill>
                <a:latin typeface="Cambria"/>
              </a:rPr>
              <a:t>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48855" y="4302252"/>
            <a:ext cx="2331720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F0FA"/>
                </a:solidFill>
                <a:latin typeface="Calibri"/>
              </a:rPr>
              <a:t>Self-supervised loss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262872" y="4411980"/>
            <a:ext cx="0" cy="278892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409176" y="4302252"/>
            <a:ext cx="1993392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3A7C6"/>
                </a:solidFill>
                <a:latin typeface="Calibri"/>
              </a:rPr>
              <a:t>JEPA cos vs EMA target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4864608"/>
            <a:ext cx="5285232" cy="498348"/>
          </a:xfrm>
          <a:prstGeom prst="roundRect">
            <a:avLst>
              <a:gd name="adj" fmla="val 9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09944" y="4965192"/>
            <a:ext cx="292608" cy="292608"/>
          </a:xfrm>
          <a:prstGeom prst="ellipse">
            <a:avLst/>
          </a:prstGeom>
          <a:solidFill>
            <a:srgbClr val="0A101D"/>
          </a:solidFill>
          <a:ln w="1778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9944" y="4965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B9DF9"/>
                </a:solidFill>
                <a:latin typeface="Cambria"/>
              </a:rPr>
              <a:t>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48855" y="4864608"/>
            <a:ext cx="2331720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F0FA"/>
                </a:solidFill>
                <a:latin typeface="Calibri"/>
              </a:rPr>
              <a:t>Adaptive depth (ACT)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262872" y="4974336"/>
            <a:ext cx="0" cy="278892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409176" y="4864608"/>
            <a:ext cx="1993392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3A7C6"/>
                </a:solidFill>
                <a:latin typeface="Calibri"/>
              </a:rPr>
              <a:t>halting · compute dial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40" y="5426964"/>
            <a:ext cx="5285232" cy="498348"/>
          </a:xfrm>
          <a:prstGeom prst="roundRect">
            <a:avLst>
              <a:gd name="adj" fmla="val 9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09944" y="5527548"/>
            <a:ext cx="292608" cy="292608"/>
          </a:xfrm>
          <a:prstGeom prst="ellipse">
            <a:avLst/>
          </a:prstGeom>
          <a:solidFill>
            <a:srgbClr val="0A101D"/>
          </a:solidFill>
          <a:ln w="1778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9944" y="55275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A524"/>
                </a:solidFill>
                <a:latin typeface="Cambria"/>
              </a:rPr>
              <a:t>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48855" y="5426964"/>
            <a:ext cx="2331720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F0FA"/>
                </a:solidFill>
                <a:latin typeface="Calibri"/>
              </a:rPr>
              <a:t>Chatbot fine-tune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262872" y="5536692"/>
            <a:ext cx="0" cy="278892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409176" y="5426964"/>
            <a:ext cx="1993392" cy="4983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3A7C6"/>
                </a:solidFill>
                <a:latin typeface="Calibri"/>
              </a:rPr>
              <a:t>two-lane · role tags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Training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2DD4BF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What this does differently, in plain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11045952" cy="1060704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84708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DD4B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755648"/>
            <a:ext cx="3383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0FA"/>
                </a:solidFill>
                <a:latin typeface="Cambria"/>
              </a:rPr>
              <a:t>Deliberate, then decode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773936"/>
            <a:ext cx="0" cy="658367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0" y="1737360"/>
            <a:ext cx="5852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93A7C6"/>
                </a:solidFill>
                <a:latin typeface="Calibri"/>
              </a:rPr>
              <a:t>Each thought is a bounded recurrent “think” — not one forward pass. Sampling noise from the Talker can never leak back into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52344"/>
            <a:ext cx="11045952" cy="1060704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3026663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1905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2666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5B9DF9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935224"/>
            <a:ext cx="3383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0FA"/>
                </a:solidFill>
                <a:latin typeface="Cambria"/>
              </a:rPr>
              <a:t>Compute becomes a dial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60" y="2953512"/>
            <a:ext cx="0" cy="658367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0" y="2916936"/>
            <a:ext cx="5852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93A7C6"/>
                </a:solidFill>
                <a:latin typeface="Calibri"/>
              </a:rPr>
              <a:t>Adaptive halting spends more loop iterations on hard thoughts, fewer on filler. Parcae's constraint makes more looping predictably help, not add noise.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11045952" cy="1060704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420624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062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  <a:latin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114800"/>
            <a:ext cx="3383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0FA"/>
                </a:solidFill>
                <a:latin typeface="Cambria"/>
              </a:rPr>
              <a:t>Context at O(1), not O(n)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94960" y="4133087"/>
            <a:ext cx="0" cy="658369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0" y="4096511"/>
            <a:ext cx="5852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93A7C6"/>
                </a:solidFill>
                <a:latin typeface="Calibri"/>
              </a:rPr>
              <a:t>Prior thoughts persist in a fixed-size gestalt memory that gradients still reach — long-range recall without a growing KV-cache.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11496"/>
            <a:ext cx="11045952" cy="1060704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" y="53858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38581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5A524"/>
                </a:solidFill>
                <a:latin typeface="Cambr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294376"/>
            <a:ext cx="3383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0FA"/>
                </a:solidFill>
                <a:latin typeface="Cambria"/>
              </a:rPr>
              <a:t>A self / input boundary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4960" y="5312664"/>
            <a:ext cx="0" cy="658368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0" y="5276088"/>
            <a:ext cx="5852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93A7C6"/>
                </a:solidFill>
                <a:latin typeface="Calibri"/>
              </a:rPr>
              <a:t>Two lanes: user input can only be attended to; the reasoning loop alone writes self-state. The model can hold a belief distinct from the user's.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Proposed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34D399"/>
                </a:solidFill>
                <a:latin typeface="Calibri"/>
              </a:rPr>
              <a:t>PRELIMINARY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A working end-to-end prototype — and one sharp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3A7C6"/>
                </a:solidFill>
                <a:latin typeface="Calibri"/>
              </a:rPr>
              <a:t>A from-scratch reference implementation runs the full A→F curriculum on real text and generates decodable output. Building it surfaced a real, non-obvious pathology.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623560" cy="370332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468879"/>
            <a:ext cx="4965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0FA"/>
                </a:solidFill>
                <a:latin typeface="Cambria"/>
              </a:rPr>
              <a:t>The SSL-collapse pathology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907791"/>
            <a:ext cx="49651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93A7C6"/>
                </a:solidFill>
                <a:latin typeface="Calibri"/>
              </a:rPr>
              <a:t>Sharing one chunk encoder between the reconstruction loss and the self-supervised latent loss </a:t>
            </a:r>
            <a:r>
              <a:rPr sz="1250" b="1" i="0">
                <a:solidFill>
                  <a:srgbClr val="F26D6D"/>
                </a:solidFill>
                <a:latin typeface="Calibri"/>
              </a:rPr>
              <a:t>collapses the latent</a:t>
            </a:r>
            <a:r>
              <a:rPr sz="1250" b="0" i="0">
                <a:solidFill>
                  <a:srgbClr val="93A7C6"/>
                </a:solidFill>
                <a:latin typeface="Calibri"/>
              </a:rPr>
              <a:t>: the encoder emits a near-constant vector for every chunk (cosine → 0.996), perfectly satisfying SSL while carrying no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4169664"/>
            <a:ext cx="4965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40">
                <a:solidFill>
                  <a:srgbClr val="34D399"/>
                </a:solidFill>
                <a:latin typeface="Calibri"/>
              </a:rPr>
              <a:t>Why it's dangerous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544568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44622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AF0FA"/>
                </a:solidFill>
                <a:latin typeface="Calibri"/>
              </a:rPr>
              <a:t>Silent — SSL→0 looks exactly like success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946904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48646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AF0FA"/>
                </a:solidFill>
                <a:latin typeface="Calibri"/>
              </a:rPr>
              <a:t>Propagating — a shared encoder spreads the damage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5349240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52669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AF0FA"/>
                </a:solidFill>
                <a:latin typeface="Calibri"/>
              </a:rPr>
              <a:t>Absorbing — the EMA target is a stable dead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84831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93A7C6"/>
                </a:solidFill>
                <a:latin typeface="Calibri"/>
              </a:rPr>
              <a:t>BEFORE → AFTER THE 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432304"/>
            <a:ext cx="5193792" cy="1060704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F0FA"/>
                </a:solidFill>
                <a:latin typeface="Calibri"/>
              </a:rPr>
              <a:t>Validation loss, D/E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889504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6D6D"/>
                </a:solidFill>
                <a:latin typeface="Cambria"/>
              </a:rPr>
              <a:t>8.26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3273552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3769A"/>
                </a:solidFill>
                <a:latin typeface="Calibri"/>
              </a:rPr>
              <a:t>regressed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89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3A7C6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889504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34D399"/>
                </a:solidFill>
                <a:latin typeface="Cambria"/>
              </a:rPr>
              <a:t>~7.8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27355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held flat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602736"/>
            <a:ext cx="5193792" cy="1060704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37673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F0FA"/>
                </a:solidFill>
                <a:latin typeface="Calibri"/>
              </a:rPr>
              <a:t>Latent representation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3136" y="4059935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6D6D"/>
                </a:solidFill>
                <a:latin typeface="Cambria"/>
              </a:rPr>
              <a:t>cos 0.996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444398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3769A"/>
                </a:solidFill>
                <a:latin typeface="Calibri"/>
              </a:rPr>
              <a:t>collapsed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05993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3A7C6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059935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34D399"/>
                </a:solidFill>
                <a:latin typeface="Cambria"/>
              </a:rPr>
              <a:t>std ~0.25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443984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healthy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773168"/>
            <a:ext cx="5193792" cy="1060704"/>
          </a:xfrm>
          <a:prstGeom prst="roundRect">
            <a:avLst>
              <a:gd name="adj" fmla="val 7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3136" y="493775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F0FA"/>
                </a:solidFill>
                <a:latin typeface="Calibri"/>
              </a:rPr>
              <a:t>Reconstruction ppl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5230368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93A7C6"/>
                </a:solidFill>
                <a:latin typeface="Cambria"/>
              </a:rPr>
              <a:t>~3360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5614416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3769A"/>
                </a:solidFill>
                <a:latin typeface="Calibri"/>
              </a:rPr>
              <a:t>broken 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230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3A7C6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523036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34D399"/>
                </a:solidFill>
                <a:latin typeface="Cambria"/>
              </a:rPr>
              <a:t>~3136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561441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fixed 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961888"/>
            <a:ext cx="5193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3769A"/>
                </a:solidFill>
                <a:latin typeface="Calibri"/>
              </a:rPr>
              <a:t>The fix: reconstruction is the always-on anchor; SSL demoted to its own head + variance floor + a collapse monitor.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Preliminary Findings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5B9DF9"/>
                </a:solidFill>
                <a:latin typeface="Calibri"/>
              </a:rPr>
              <a:t>BASELINE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Ahead of a width-matched GPT, behind a param-matched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3A7C6"/>
                </a:solidFill>
                <a:latin typeface="Calibri"/>
              </a:rPr>
              <a:t>Memorizing one Wikipedia page — same gpt2 tokenizer, optimizer &amp; schedule (the latent needs 4× the batch to memorize); </a:t>
            </a:r>
            <a:r>
              <a:rPr sz="1300" b="1" i="0">
                <a:solidFill>
                  <a:srgbClr val="EAF0FA"/>
                </a:solidFill>
                <a:latin typeface="Calibri"/>
              </a:rPr>
              <a:t>only the architecture differs.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773936"/>
            <a:ext cx="6616472" cy="4096512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7088"/>
            <a:ext cx="6470168" cy="3950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29704" y="1847088"/>
            <a:ext cx="42191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EAF0FA"/>
                </a:solidFill>
                <a:latin typeface="Calibri"/>
              </a:rPr>
              <a:t>WHAT IT SHOWS</a:t>
            </a:r>
          </a:p>
        </p:txBody>
      </p:sp>
      <p:sp>
        <p:nvSpPr>
          <p:cNvPr id="9" name="Oval 8"/>
          <p:cNvSpPr/>
          <p:nvPr/>
        </p:nvSpPr>
        <p:spPr>
          <a:xfrm>
            <a:off x="7347992" y="23042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4024" y="2212848"/>
            <a:ext cx="3944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0FA"/>
                </a:solidFill>
                <a:latin typeface="Cambria"/>
              </a:rPr>
              <a:t>Beats the width-matched 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024" y="2523744"/>
            <a:ext cx="394484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93A7C6"/>
                </a:solidFill>
                <a:latin typeface="Calibri"/>
              </a:rPr>
              <a:t>The 14.1M same-compute GPT (d=192) plateaus at ≈ 487; the latent, same width, memorizes to ≈ 38.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04024" y="3182112"/>
            <a:ext cx="3944848" cy="0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347992" y="3364992"/>
            <a:ext cx="146304" cy="14630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024" y="3273552"/>
            <a:ext cx="3944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0FA"/>
                </a:solidFill>
                <a:latin typeface="Cambria"/>
              </a:rPr>
              <a:t>A param-matched GPT is more efficient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4024" y="3584448"/>
            <a:ext cx="394484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93A7C6"/>
                </a:solidFill>
                <a:latin typeface="Calibri"/>
              </a:rPr>
              <a:t>The 44.7M same-params GPT reaches ≈ 2; the latent floors at ≈ 38 — the 192-d thought bottleneck caps exact reconstruction — and only at 4× the batch.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04024" y="4242816"/>
            <a:ext cx="3944848" cy="0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47992" y="4425695"/>
            <a:ext cx="146304" cy="146304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024" y="4334255"/>
            <a:ext cx="3944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0FA"/>
                </a:solidFill>
                <a:latin typeface="Cambria"/>
              </a:rPr>
              <a:t>The SSL cost is 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024" y="4645151"/>
            <a:ext cx="394484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93A7C6"/>
                </a:solidFill>
                <a:latin typeface="Calibri"/>
              </a:rPr>
              <a:t>Under the full A→E curriculum the latent model sits at ≈ 957: self-supervision trades page-fit for generalization.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80176"/>
            <a:ext cx="6653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3769A"/>
                </a:solidFill>
                <a:latin typeface="Calibri"/>
              </a:rPr>
              <a:t>Chance ≈ 50,257.  </a:t>
            </a:r>
            <a:r>
              <a:rPr sz="1000" b="0" i="1">
                <a:solidFill>
                  <a:srgbClr val="63769A"/>
                </a:solidFill>
                <a:latin typeface="Calibri"/>
              </a:rPr>
              <a:t>One-page memorization isn't the goal — the payoff shows only at scale.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Baseline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2DD4BF"/>
                </a:solidFill>
                <a:latin typeface="Calibri"/>
              </a:rP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Three signals decide whether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9584" cy="3977639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990088"/>
            <a:ext cx="2871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2DD4BF"/>
                </a:solidFill>
                <a:latin typeface="Calibri"/>
              </a:rPr>
              <a:t>DECODABILITY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355848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EAF0FA"/>
                </a:solidFill>
                <a:latin typeface="Cambria"/>
              </a:rPr>
              <a:t>Reconstruction</a:t>
            </a:r>
          </a:p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EAF0FA"/>
                </a:solidFill>
                <a:latin typeface="Cambria"/>
              </a:rPr>
              <a:t>perplexity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9264" y="4270248"/>
            <a:ext cx="2871215" cy="0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9264" y="4434840"/>
            <a:ext cx="2871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 i="0">
                <a:solidFill>
                  <a:srgbClr val="93A7C6"/>
                </a:solidFill>
                <a:latin typeface="Calibri"/>
              </a:rPr>
              <a:t>Can the Talker faithfully rebuild a chunk from its latent? The anchor metric — it cannot be gamed by a degenerate latent.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4" y="1783080"/>
            <a:ext cx="3529584" cy="3977639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18888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2032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5B9DF9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990088"/>
            <a:ext cx="2871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5B9DF9"/>
                </a:solidFill>
                <a:latin typeface="Calibri"/>
              </a:rPr>
              <a:t>REPRESENTATION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3355848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EAF0FA"/>
                </a:solidFill>
                <a:latin typeface="Cambria"/>
              </a:rPr>
              <a:t>latent_std</a:t>
            </a:r>
          </a:p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EAF0FA"/>
                </a:solidFill>
                <a:latin typeface="Cambria"/>
              </a:rPr>
              <a:t>collapse monitor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18888" y="4270248"/>
            <a:ext cx="2871216" cy="0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18888" y="4434840"/>
            <a:ext cx="2871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 i="0">
                <a:solidFill>
                  <a:srgbClr val="93A7C6"/>
                </a:solidFill>
                <a:latin typeface="Calibri"/>
              </a:rPr>
              <a:t>Per-dimension latent variance, logged every eval. Must stay above the floor — the tripwire that would catch any SSL collapse early.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8" y="1783080"/>
            <a:ext cx="3529584" cy="3977639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68512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A101D"/>
          </a:solidFill>
          <a:ln w="2032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A524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2990088"/>
            <a:ext cx="2871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F5A524"/>
                </a:solidFill>
                <a:latin typeface="Calibri"/>
              </a:rPr>
              <a:t>COMPUTE 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3355848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EAF0FA"/>
                </a:solidFill>
                <a:latin typeface="Cambria"/>
              </a:rPr>
              <a:t>Loss vs. loop</a:t>
            </a:r>
          </a:p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EAF0FA"/>
                </a:solidFill>
                <a:latin typeface="Cambria"/>
              </a:rPr>
              <a:t>iterations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8512" y="4270248"/>
            <a:ext cx="2871216" cy="0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68512" y="4434840"/>
            <a:ext cx="2871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 i="0">
                <a:solidFill>
                  <a:srgbClr val="93A7C6"/>
                </a:solidFill>
                <a:latin typeface="Calibri"/>
              </a:rPr>
              <a:t>Does more test-time looping help along Parcae's predictable, saturating curve? Confirms depth is a real, monotone compute dial.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Success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93776"/>
            <a:ext cx="146304" cy="146304"/>
          </a:xfrm>
          <a:prstGeom prst="ellipse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93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5B9DF9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AF0FA"/>
                </a:solidFill>
                <a:latin typeface="Cambria"/>
              </a:rPr>
              <a:t>Curriculum milestones, then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7C6"/>
                </a:solidFill>
                <a:latin typeface="Calibri"/>
              </a:rPr>
              <a:t>The architecture can't be trained from a random init — each mechanism needs the previous one stable. That staging is the roadmap.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59" y="2651760"/>
            <a:ext cx="10680193" cy="0"/>
          </a:xfrm>
          <a:prstGeom prst="bentConnector3">
            <a:avLst/>
          </a:prstGeom>
          <a:ln w="254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331976" y="2423160"/>
            <a:ext cx="457200" cy="457200"/>
          </a:xfrm>
          <a:prstGeom prst="ellipse">
            <a:avLst/>
          </a:prstGeom>
          <a:solidFill>
            <a:srgbClr val="34D399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1976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C1424"/>
                </a:solidFill>
                <a:latin typeface="Cambr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44952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AF0FA"/>
                </a:solidFill>
                <a:latin typeface="Calibri"/>
              </a:rPr>
              <a:t>Ground the Talker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392424"/>
            <a:ext cx="1658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34D399"/>
                </a:solidFill>
                <a:latin typeface="Calibri"/>
              </a:rPr>
              <a:t>latent → text</a:t>
            </a:r>
          </a:p>
        </p:txBody>
      </p:sp>
      <p:sp>
        <p:nvSpPr>
          <p:cNvPr id="11" name="Oval 10"/>
          <p:cNvSpPr/>
          <p:nvPr/>
        </p:nvSpPr>
        <p:spPr>
          <a:xfrm>
            <a:off x="3172968" y="2423160"/>
            <a:ext cx="457200" cy="457200"/>
          </a:xfrm>
          <a:prstGeom prst="ellipse">
            <a:avLst/>
          </a:prstGeom>
          <a:solidFill>
            <a:srgbClr val="34D399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C1424"/>
                </a:solidFill>
                <a:latin typeface="Cambr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2511" y="3044952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AF0FA"/>
                </a:solidFill>
                <a:latin typeface="Calibri"/>
              </a:rPr>
              <a:t>Inner HRM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2511" y="3392424"/>
            <a:ext cx="1658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34D399"/>
                </a:solidFill>
                <a:latin typeface="Calibri"/>
              </a:rPr>
              <a:t>fixed depth</a:t>
            </a:r>
          </a:p>
        </p:txBody>
      </p:sp>
      <p:sp>
        <p:nvSpPr>
          <p:cNvPr id="15" name="Oval 14"/>
          <p:cNvSpPr/>
          <p:nvPr/>
        </p:nvSpPr>
        <p:spPr>
          <a:xfrm>
            <a:off x="5013960" y="2423160"/>
            <a:ext cx="457200" cy="457200"/>
          </a:xfrm>
          <a:prstGeom prst="ellipse">
            <a:avLst/>
          </a:prstGeom>
          <a:solidFill>
            <a:srgbClr val="34D399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3960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C1424"/>
                </a:solidFill>
                <a:latin typeface="Cambria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3504" y="3044952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AF0FA"/>
                </a:solidFill>
                <a:latin typeface="Calibri"/>
              </a:rPr>
              <a:t>Un-detach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3504" y="3392424"/>
            <a:ext cx="1658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34D399"/>
                </a:solidFill>
                <a:latin typeface="Calibri"/>
              </a:rPr>
              <a:t>cross-thought grad</a:t>
            </a:r>
          </a:p>
        </p:txBody>
      </p:sp>
      <p:sp>
        <p:nvSpPr>
          <p:cNvPr id="19" name="Oval 18"/>
          <p:cNvSpPr/>
          <p:nvPr/>
        </p:nvSpPr>
        <p:spPr>
          <a:xfrm>
            <a:off x="6854951" y="2423160"/>
            <a:ext cx="457200" cy="45720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4951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C1424"/>
                </a:solidFill>
                <a:latin typeface="Cambria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5" y="3044952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AF0FA"/>
                </a:solidFill>
                <a:latin typeface="Calibri"/>
              </a:rPr>
              <a:t>Add SSL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392424"/>
            <a:ext cx="1658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2DD4BF"/>
                </a:solidFill>
                <a:latin typeface="Calibri"/>
              </a:rPr>
              <a:t>collapse fix here</a:t>
            </a:r>
          </a:p>
        </p:txBody>
      </p:sp>
      <p:sp>
        <p:nvSpPr>
          <p:cNvPr id="23" name="Oval 22"/>
          <p:cNvSpPr/>
          <p:nvPr/>
        </p:nvSpPr>
        <p:spPr>
          <a:xfrm>
            <a:off x="8695943" y="2423160"/>
            <a:ext cx="457200" cy="457200"/>
          </a:xfrm>
          <a:prstGeom prst="ellipse">
            <a:avLst/>
          </a:prstGeom>
          <a:solidFill>
            <a:srgbClr val="0A101D"/>
          </a:solidFill>
          <a:ln w="2540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3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5B9DF9"/>
                </a:solidFill>
                <a:latin typeface="Cambria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5487" y="3044952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AF0FA"/>
                </a:solidFill>
                <a:latin typeface="Calibri"/>
              </a:rPr>
              <a:t>Adaptive depth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7" y="3392424"/>
            <a:ext cx="1658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9DF9"/>
                </a:solidFill>
                <a:latin typeface="Calibri"/>
              </a:rPr>
              <a:t>ACT halting</a:t>
            </a:r>
          </a:p>
        </p:txBody>
      </p:sp>
      <p:sp>
        <p:nvSpPr>
          <p:cNvPr id="27" name="Oval 26"/>
          <p:cNvSpPr/>
          <p:nvPr/>
        </p:nvSpPr>
        <p:spPr>
          <a:xfrm>
            <a:off x="10536935" y="2423160"/>
            <a:ext cx="457200" cy="457200"/>
          </a:xfrm>
          <a:prstGeom prst="ellipse">
            <a:avLst/>
          </a:prstGeom>
          <a:solidFill>
            <a:srgbClr val="0A101D"/>
          </a:solidFill>
          <a:ln w="25400">
            <a:solidFill>
              <a:srgbClr val="93A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36935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3A7C6"/>
                </a:solidFill>
                <a:latin typeface="Cambria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6479" y="3044952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AF0FA"/>
                </a:solidFill>
                <a:latin typeface="Calibri"/>
              </a:rPr>
              <a:t>Chatbot fine-tune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6479" y="3392424"/>
            <a:ext cx="1658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3A7C6"/>
                </a:solidFill>
                <a:latin typeface="Calibri"/>
              </a:rPr>
              <a:t>two-lane /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8928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3769A"/>
                </a:solidFill>
                <a:latin typeface="Calibri"/>
              </a:rPr>
              <a:t>Stages A–D verified on real text (≈1.5M tokens) · E–F wired but not yet scaled → next: a GPU shakedown before the first large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05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F5A524"/>
                </a:solidFill>
                <a:latin typeface="Calibri"/>
              </a:rPr>
              <a:t>TOP RISKS &amp; MITIGATIONS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453128"/>
            <a:ext cx="5358384" cy="1737360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0976" y="4764024"/>
            <a:ext cx="182880" cy="182880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4617720"/>
            <a:ext cx="4443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AF0FA"/>
                </a:solidFill>
                <a:latin typeface="Cambria"/>
              </a:rPr>
              <a:t>SSL collapse returns at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5093208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26D6D"/>
                </a:solidFill>
                <a:latin typeface="Calibri"/>
              </a:rPr>
              <a:t>Risk  </a:t>
            </a:r>
            <a:r>
              <a:rPr sz="1150" b="0" i="0">
                <a:solidFill>
                  <a:srgbClr val="93A7C6"/>
                </a:solidFill>
                <a:latin typeface="Calibri"/>
              </a:rPr>
              <a:t>Hyperparameters were tuned on a 1.5M-token smoke run.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5532120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4D399"/>
                </a:solidFill>
                <a:latin typeface="Calibri"/>
              </a:rPr>
              <a:t>Mitigation  </a:t>
            </a:r>
            <a:r>
              <a:rPr sz="1150" b="0" i="0">
                <a:solidFill>
                  <a:srgbClr val="EAF0FA"/>
                </a:solidFill>
                <a:latin typeface="Calibri"/>
              </a:rPr>
              <a:t>Reconstruction stays the always-on anchor; separate SSL head + variance floor + latent_std monitor catch any recurrence early.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8504" y="4453128"/>
            <a:ext cx="5358384" cy="1737360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 w="12700">
            <a:solidFill>
              <a:srgbClr val="26385C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29400" y="4764024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8584" y="4617720"/>
            <a:ext cx="4443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AF0FA"/>
                </a:solidFill>
                <a:latin typeface="Cambria"/>
              </a:rPr>
              <a:t>No large run has been done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093208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A524"/>
                </a:solidFill>
                <a:latin typeface="Calibri"/>
              </a:rPr>
              <a:t>Risk  </a:t>
            </a:r>
            <a:r>
              <a:rPr sz="1150" b="0" i="0">
                <a:solidFill>
                  <a:srgbClr val="93A7C6"/>
                </a:solidFill>
                <a:latin typeface="Calibri"/>
              </a:rPr>
              <a:t>Everything is verified at smoke/offline scale; a global LR cosine starves late stages.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532120"/>
            <a:ext cx="4736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4D399"/>
                </a:solidFill>
                <a:latin typeface="Calibri"/>
              </a:rPr>
              <a:t>Mitigation  </a:t>
            </a:r>
            <a:r>
              <a:rPr sz="1150" b="0" i="0">
                <a:solidFill>
                  <a:srgbClr val="EAF0FA"/>
                </a:solidFill>
                <a:latin typeface="Calibri"/>
              </a:rPr>
              <a:t>Per-stage warmup→cosine schedule; short GPU shakedown to confirm throughput and health before committing to a long run.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63769A"/>
                </a:solidFill>
                <a:latin typeface="Calibri"/>
              </a:rPr>
              <a:t>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419088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50">
                <a:solidFill>
                  <a:srgbClr val="63769A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777239"/>
            <a:ext cx="3108960" cy="3108960"/>
          </a:xfrm>
          <a:prstGeom prst="ellipse">
            <a:avLst/>
          </a:prstGeom>
          <a:noFill/>
          <a:ln w="13970">
            <a:solidFill>
              <a:srgbClr val="2DD4B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188719"/>
            <a:ext cx="2286000" cy="2286000"/>
          </a:xfrm>
          <a:prstGeom prst="ellipse">
            <a:avLst/>
          </a:prstGeom>
          <a:noFill/>
          <a:ln w="13970">
            <a:solidFill>
              <a:srgbClr val="2DD4BF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09960" y="1645919"/>
            <a:ext cx="1371600" cy="1371600"/>
          </a:xfrm>
          <a:prstGeom prst="ellipse">
            <a:avLst/>
          </a:prstGeom>
          <a:noFill/>
          <a:ln w="13970">
            <a:solidFill>
              <a:srgbClr val="2DD4BF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93852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3794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spc="260">
                <a:solidFill>
                  <a:srgbClr val="2DD4BF"/>
                </a:solidFill>
                <a:latin typeface="Calibri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AF0FA"/>
                </a:solidFill>
                <a:latin typeface="Cambria"/>
              </a:rPr>
              <a:t>Think first.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2DD4BF"/>
                </a:solidFill>
                <a:latin typeface="Cambria"/>
              </a:rPr>
              <a:t>Speak second.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93A7C6"/>
                </a:solidFill>
                <a:latin typeface="Calibri"/>
              </a:rPr>
              <a:t>One architecture that separates reasoning from expression, turns deliberation into a tunable compute dial, and keeps a self / input boundary — with a working prototype and a de-risked path to scale.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5623560"/>
            <a:ext cx="10543032" cy="0"/>
          </a:xfrm>
          <a:prstGeom prst="bentConnector3">
            <a:avLst/>
          </a:prstGeom>
          <a:ln w="12700">
            <a:solidFill>
              <a:srgbClr val="2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F0FA"/>
                </a:solidFill>
                <a:latin typeface="Calibri"/>
              </a:rPr>
              <a:t>Hierarchical Latent Reasoning Architecture</a:t>
            </a:r>
            <a:r>
              <a:rPr sz="1300" b="0" i="0">
                <a:solidFill>
                  <a:srgbClr val="63769A"/>
                </a:solidFill>
                <a:latin typeface="Calibri"/>
              </a:rPr>
              <a:t>   ·   Project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